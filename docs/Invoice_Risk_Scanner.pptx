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4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8563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5029200" cy="50292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4114800" cy="4114800"/>
          </a:xfrm>
          <a:prstGeom prst="ellipse">
            <a:avLst/>
          </a:prstGeom>
          <a:solidFill>
            <a:srgbClr val="02C39A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→ CACHE → 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Invoice Risk Scanner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Invoice Risk Screening Module for MSMEs and Audit Teams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794760"/>
            <a:ext cx="29260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069080"/>
            <a:ext cx="9601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TetraTHON 2026 — Indo-French AI Innovation Sprint
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Navrachana Innovation Foundation  ·  Navrachana University, Vadodara
31 July – 2 August 2026  ·  Track C — FinTech  ·  Problem Statement 1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Phishers – TETRA016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 Jadhav, Ananya Yadav,  Jaivin Vachhani 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invoice risk screening — not a full audit platform.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vouching can't keep up with invoice volume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teams and MSMEs process large volumes of invoices, vouchers, and accounting entries across mixed formats. </a:t>
            </a:r>
            <a:r>
              <a:rPr lang="en-US" sz="1450" b="1" dirty="0">
                <a:solidFill>
                  <a:srgbClr val="C1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vouching is slow and sample-based</a:t>
            </a:r>
            <a:r>
              <a:rPr lang="en-US" sz="14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leaving duplicate invoices, incorrect tax details, unsupported transactions, and ledger mismatches undetected.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3520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MSME EXPOSURE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5852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4041648"/>
            <a:ext cx="5303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43B(h): </a:t>
            </a:r>
            <a:r>
              <a:rPr lang="en-US" sz="13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MSME buyer doesn't pay a registered MSME vendor within 45 days of the invoice date, that expense becomes a disallowed tax deduction — a real, dated financial penalty that's usually invisible until tax filing time.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720840" y="1691640"/>
            <a:ext cx="4937760" cy="4297680"/>
          </a:xfrm>
          <a:prstGeom prst="roundRect">
            <a:avLst>
              <a:gd name="adj" fmla="val 1702"/>
            </a:avLst>
          </a:prstGeom>
          <a:solidFill>
            <a:srgbClr val="0B2545"/>
          </a:solidFill>
          <a:ln/>
        </p:spPr>
      </p:sp>
      <p:sp>
        <p:nvSpPr>
          <p:cNvPr id="9" name="Text 7"/>
          <p:cNvSpPr/>
          <p:nvPr/>
        </p:nvSpPr>
        <p:spPr>
          <a:xfrm>
            <a:off x="7086600" y="1920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BRIEF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086600" y="224028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invoices in PDF/image form, extract key fields, and reconcile against the purchase ledger and vendor master.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086600" y="347472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7360920" y="33558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Extraction Engine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086600" y="400507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7360920" y="38862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&amp; Anomaly Detection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086600" y="453542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7360920" y="44165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&amp; Risk Scoring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086600" y="506577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7360920" y="494690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Dashboarding &amp; Exception Queue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086600" y="54864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note: the objective is a reliable screening module — not a complete audit platform.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Risk Scanner  ·  TetraTHON 2026  ·  Track C — FinTech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ARCHITECTURAL PRINCIPLE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→ Cache → AI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invoice runs through free, deterministic rule-based checks first. Cached prior decisions are reused. AI is called only on what genuinely remains.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12335C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286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04672" y="27889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04672" y="32461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instant checks: GSTIN checksum, math validation, duplicate hashing, sequence gaps.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87368" y="301752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89120" y="214884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12335C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2286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45152" y="27889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45152" y="32461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decisions are reused rather than recomputed — no redundant processing.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927848" y="301752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229600" y="214884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12335C"/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85632" y="2286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485632" y="27889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485632" y="32461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is invoked only for fields OCR couldn't confidently read — never full-document re-extraction.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7548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072038"/>
          </a:solidFill>
          <a:ln w="12700">
            <a:solidFill>
              <a:srgbClr val="1E4C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892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ARCHITECTURAL RULE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5193792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(rule-violation likelihood) and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(OCR read quality) are two separate axes — </a:t>
            </a:r>
            <a:r>
              <a:rPr lang="en-US" sz="1300" b="1" i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blended.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badly-scanned but legitimate invoice gets low confidence, not high risk.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Risk Scanner  ·  TetraTHON 2026  ·  Track C — FinTech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 — MAPPED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brief asked for, and what we built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795528"/>
          </a:xfrm>
          <a:prstGeom prst="roundRect">
            <a:avLst>
              <a:gd name="adj" fmla="val 804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1B2A3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82296" cy="795528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37944"/>
            <a:ext cx="37490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Extraction Engine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800600" y="1837944"/>
            <a:ext cx="66294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OCR + Gemini Vision fallback, field parser, per-field confidence scoring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11064240" cy="795528"/>
          </a:xfrm>
          <a:prstGeom prst="roundRect">
            <a:avLst>
              <a:gd name="adj" fmla="val 804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1B2A3A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743200"/>
            <a:ext cx="82296" cy="795528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798064"/>
            <a:ext cx="37490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&amp; Anomaly Detection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800600" y="2798064"/>
            <a:ext cx="66294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reconciliation suite — GSTIN, duplicates, ledger match, vendor anomalies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11064240" cy="795528"/>
          </a:xfrm>
          <a:prstGeom prst="roundRect">
            <a:avLst>
              <a:gd name="adj" fmla="val 804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1B2A3A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703320"/>
            <a:ext cx="82296" cy="795528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58184"/>
            <a:ext cx="37490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&amp; Risk Scoring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800600" y="3758184"/>
            <a:ext cx="66294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sealed audit trail, ticket system, dual risk + confidence scoring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64240" cy="795528"/>
          </a:xfrm>
          <a:prstGeom prst="roundRect">
            <a:avLst>
              <a:gd name="adj" fmla="val 804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1B2A3A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4663440"/>
            <a:ext cx="82296" cy="795528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718304"/>
            <a:ext cx="37490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Dashboarding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800600" y="4718304"/>
            <a:ext cx="66294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Charts, prioritized Exception Queue with filters, search, and grouping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Risk Scanner  ·  TetraTHON 2026  ·  Track C — FinTech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full screening pipeline, not a demo script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39312" cy="4480560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1B2A3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514600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 &amp; Extraction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95528" y="3177540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987552" y="306324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multi-format upload (PDF/PNG/JPEG)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95528" y="3781044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987552" y="3666744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OCR + Gemini Vision fallback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95528" y="4384548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987552" y="4270248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Per-field confidence scoring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5528" y="4988052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987552" y="4873752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math validation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95528" y="5591556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987552" y="5477256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needs_review routing, never guessed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34256" y="1737360"/>
            <a:ext cx="3639312" cy="4480560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1B2A3A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62856" y="196596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4562856" y="2514600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Forensics &amp; Reconciliation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4581144" y="3177540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4773168" y="306324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metadata tamper detection (pikepdf)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81144" y="3781044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4773168" y="3666744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Invisible-text detection (PyMuPDF)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81144" y="4384548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4773168" y="4270248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GSTIN mod-36 checksum validation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81144" y="4988052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4773168" y="4873752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+ fuzzy duplicate detection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81144" y="5591556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9" name="Text 27"/>
          <p:cNvSpPr/>
          <p:nvPr/>
        </p:nvSpPr>
        <p:spPr>
          <a:xfrm>
            <a:off x="4773168" y="5477256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 vendor &amp; typo-squatting checks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119872" y="1737360"/>
            <a:ext cx="3639312" cy="4480560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1B2A3A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48472" y="196596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32" name="Text 30"/>
          <p:cNvSpPr/>
          <p:nvPr/>
        </p:nvSpPr>
        <p:spPr>
          <a:xfrm>
            <a:off x="8348472" y="2514600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Scoring, Audit &amp; Dashboard</a:t>
            </a:r>
            <a:endParaRPr lang="en-US" sz="1550" dirty="0"/>
          </a:p>
        </p:txBody>
      </p:sp>
      <p:sp>
        <p:nvSpPr>
          <p:cNvPr id="33" name="Shape 31"/>
          <p:cNvSpPr/>
          <p:nvPr/>
        </p:nvSpPr>
        <p:spPr>
          <a:xfrm>
            <a:off x="8366760" y="3177540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4" name="Text 32"/>
          <p:cNvSpPr/>
          <p:nvPr/>
        </p:nvSpPr>
        <p:spPr>
          <a:xfrm>
            <a:off x="8558784" y="306324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Weighted, explainable risk aggregation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366760" y="3781044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6" name="Text 34"/>
          <p:cNvSpPr/>
          <p:nvPr/>
        </p:nvSpPr>
        <p:spPr>
          <a:xfrm>
            <a:off x="8558784" y="3666744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ITC-at-risk &amp; MSME penalty exposure ₹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366760" y="4384548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8" name="Text 36"/>
          <p:cNvSpPr/>
          <p:nvPr/>
        </p:nvSpPr>
        <p:spPr>
          <a:xfrm>
            <a:off x="8558784" y="4270248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sealed, append-only audit trail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366760" y="4988052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0" name="Text 38"/>
          <p:cNvSpPr/>
          <p:nvPr/>
        </p:nvSpPr>
        <p:spPr>
          <a:xfrm>
            <a:off x="8558784" y="4873752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Queue: filter, search, group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8366760" y="5591556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2" name="Text 40"/>
          <p:cNvSpPr/>
          <p:nvPr/>
        </p:nvSpPr>
        <p:spPr>
          <a:xfrm>
            <a:off x="8558784" y="5477256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 45-Day Payment Deadline Center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Risk Scanner  ·  TetraTHON 2026  ·  Track C — FinTech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is scoped tightly — and never judges fraud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49224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08760" y="189280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generator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508760" y="225856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pre-computed rule findings into plain auditor-facing language, batched per invoice.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953512"/>
            <a:ext cx="649224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09067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08760" y="30632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 translator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508760" y="34290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the same findings in non-technical, action-oriented language for a business owner.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23944"/>
            <a:ext cx="649224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26110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08760" y="423367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suggester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508760" y="459943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— never auto-executes — ticket merges for likely-duplicate exceptions.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0" y="1783080"/>
            <a:ext cx="4343400" cy="4206240"/>
          </a:xfrm>
          <a:prstGeom prst="roundRect">
            <a:avLst>
              <a:gd name="adj" fmla="val 1739"/>
            </a:avLst>
          </a:prstGeom>
          <a:solidFill>
            <a:srgbClr val="0B2545"/>
          </a:solidFill>
          <a:ln/>
        </p:spPr>
      </p:sp>
      <p:sp>
        <p:nvSpPr>
          <p:cNvPr id="17" name="Text 15"/>
          <p:cNvSpPr/>
          <p:nvPr/>
        </p:nvSpPr>
        <p:spPr>
          <a:xfrm>
            <a:off x="758952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589520" y="238658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7818120" y="2258568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never determines whether something is fraudulent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89520" y="296265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7818120" y="283464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flag traces to a deterministic, auditable rule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589520" y="353872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7818120" y="341071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Human-in-the-loop: resolution &amp; merges need explicit action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589520" y="411480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7818120" y="3986784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data exposure — only low-confidence fields sent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589520" y="469087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7818120" y="4562856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Retry-with-backoff; system stays functional at zero AI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589520" y="526694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9" name="Text 27"/>
          <p:cNvSpPr/>
          <p:nvPr/>
        </p:nvSpPr>
        <p:spPr>
          <a:xfrm>
            <a:off x="7818120" y="5138928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Unrecoverable fields return null + needs_review, never guessed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Risk Scanner  ·  TetraTHON 2026  ·  Track C — FinTech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Chosen for hackathon speed and production runway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865376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49808" y="2075688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238658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Async, auto-generated OpenAPI docs used constantly for testing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440680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73368" y="1865376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/ DB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73368" y="2075688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+ SQLite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73368" y="238658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iterate; drops into PostgreSQL with just a connection string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944368"/>
            <a:ext cx="5440680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026664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49808" y="3236976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(pytesseract)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9808" y="354787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PaddleOCR failed silently on Windows; Tesseract was clean &amp; reliable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72200" y="2944368"/>
            <a:ext cx="5440680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3026664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373368" y="3236976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(flash-latest)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73368" y="354787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for high-volume, low-complexity recovery &amp; rephrasing tasks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105656"/>
            <a:ext cx="5440680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4187952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FORENSICS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49808" y="4398264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pikepdf, PyMuPDF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9808" y="470916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inspection and invisible-text detection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72200" y="4105656"/>
            <a:ext cx="5440680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4187952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FORENSICS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73368" y="4398264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 (EXIF)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73368" y="470916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tamper-signal capability extended to PNG/JPEG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5266944"/>
            <a:ext cx="5440680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5349240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MATCHING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49808" y="5559552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RapidFuzz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49808" y="587044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typo-squatting &amp; near-duplicate invoice detection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72200" y="5266944"/>
            <a:ext cx="5440680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73368" y="5349240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73368" y="5559552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 Tailwind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373368" y="587044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dev iteration matching FastAPI's async responsiveness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Risk Scanner  ·  TetraTHON 2026  ·  Track C — FinTech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COST-EFFECTIVENESS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→ Cache → AI is the entire cost strategy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0F2F5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202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 / 83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screened with 0 required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vision fallbacks (demo run)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78308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0F2F5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9202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3566160" y="26517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invoices handled by free,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 logic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0F2F5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9202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Field-level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6400800" y="26517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calls — only missing fields,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full re-extraction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52560" y="178308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0F2F5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0" y="19202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Batched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9235440" y="26517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calls — one Gemini call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invoice, not per flag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11064240" cy="2103120"/>
          </a:xfrm>
          <a:prstGeom prst="roundRect">
            <a:avLst>
              <a:gd name="adj" fmla="val 3478"/>
            </a:avLst>
          </a:prstGeom>
          <a:solidFill>
            <a:srgbClr val="072038"/>
          </a:solidFill>
          <a:ln w="12700">
            <a:solidFill>
              <a:srgbClr val="1E4C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9502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METRIC — REAL, NOT ASSERTED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4279392"/>
            <a:ext cx="10424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demo run,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83/83 invoices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were processed with zero required Gemini vision fallbacks. This ratio is surfaced live on the dashboard as an </a:t>
            </a:r>
            <a:r>
              <a:rPr lang="en-US" sz="1400" i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cost savings"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metric, computed from real data. Cost scales sub-linearly with invoice volume — most invoices never touch the AI layer at all.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Risk Scanner  ·  TetraTHON 2026  ·  Track C — FinTech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SNAPSHOT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dashboard to evidence chain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39312" cy="4160520"/>
          </a:xfrm>
          <a:prstGeom prst="roundRect">
            <a:avLst>
              <a:gd name="adj" fmla="val 150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</p:sp>
      <p:pic>
        <p:nvPicPr>
          <p:cNvPr id="5" name="Image 0" descr="/mnt/user-data/uploads/1785652591690_Screenshot_2026-08-02_12003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8368" y="1892808"/>
            <a:ext cx="3419856" cy="3657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5623560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overview dashboard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334256" y="1783080"/>
            <a:ext cx="3639312" cy="4160520"/>
          </a:xfrm>
          <a:prstGeom prst="roundRect">
            <a:avLst>
              <a:gd name="adj" fmla="val 150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</p:sp>
      <p:pic>
        <p:nvPicPr>
          <p:cNvPr id="8" name="Image 1" descr="/mnt/user-data/uploads/1785652591687_Screenshot_2026-08-02_120206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43984" y="1892808"/>
            <a:ext cx="3419856" cy="3657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71416" y="5623560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Queue, grouped by category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8119872" y="1783080"/>
            <a:ext cx="3639312" cy="4160520"/>
          </a:xfrm>
          <a:prstGeom prst="roundRect">
            <a:avLst>
              <a:gd name="adj" fmla="val 150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</p:sp>
      <p:pic>
        <p:nvPicPr>
          <p:cNvPr id="11" name="Image 2" descr="/mnt/user-data/uploads/1785652591687_Screenshot_2026-08-02_120229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29600" y="1892808"/>
            <a:ext cx="3419856" cy="3657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57032" y="5623560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investigation &amp; evidence chain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Risk Scanner  ·  TetraTHON 2026  ·  Track C — FinTech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&amp; SECURE USE OF 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by design, honest about its limits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3093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2148840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856232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never makes the fraud determination — every flag is rule-derived and traceable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807208"/>
            <a:ext cx="63093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3172968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88036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by design for resolution, false-positives, and merges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831336"/>
            <a:ext cx="63093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4197096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904488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 language throughout: "risk," "potential duplicate," never certain fraud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855464"/>
            <a:ext cx="63093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" y="5221224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928616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statistical rigor — reports "insufficient evidence" rather than guessing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040880" y="1783080"/>
            <a:ext cx="4617720" cy="4114800"/>
          </a:xfrm>
          <a:prstGeom prst="roundRect">
            <a:avLst>
              <a:gd name="adj" fmla="val 1778"/>
            </a:avLst>
          </a:prstGeom>
          <a:solidFill>
            <a:srgbClr val="0B2545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0" y="1965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DATA POSTURE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15200" y="2286000"/>
            <a:ext cx="4069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Gemini API key under standard developer terms — appropriate for a 36-hour sprint on synthetic data with no real financial exposure.
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real deployment, we'd move to: 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0" y="3849624"/>
            <a:ext cx="100584" cy="1005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7516368" y="3739896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enterprise API agreement with a contractual no-training-on-data guarantee, formalized in a DPA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0" y="4672584"/>
            <a:ext cx="100584" cy="1005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7516368" y="4562856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Self-hosted, open-weight models on our own infrastructure for organizations with strict data-residency needs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0" y="544068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ethical posture of an AI system depends on the deployment model beneath it — a deliberate choice, not a hackathon default.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Risk Scanner  ·  TetraTHON 2026  ·  Track C — FinTech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&amp;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screening layer built to grow into production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1B2A3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65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PATH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2432304"/>
            <a:ext cx="100584" cy="1005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024128" y="2304288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→ PostgreSQL: zero code changes, just a connection string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3227832"/>
            <a:ext cx="100584" cy="1005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3099816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Rule-first design keeps AI cost sub-linear as volume grows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4023360"/>
            <a:ext cx="100584" cy="1005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1024128" y="3895344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modules generalize beyond the sectors demoed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4818888"/>
            <a:ext cx="100584" cy="1005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1024128" y="4690872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₹8–15 lakh, 3–4 months, 2–3 engineers to production MVP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548640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deliberately (candidates for future work): E-way bill API, FX API, WHOIS lookup, circular-billing graph, custom OCR training.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80760" y="1783080"/>
            <a:ext cx="5532120" cy="4160520"/>
          </a:xfrm>
          <a:prstGeom prst="roundRect">
            <a:avLst>
              <a:gd name="adj" fmla="val 1758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965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INCLUSIVE GROWTH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55080" y="2331720"/>
            <a:ext cx="4983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MSMEs form a large share of India's GST-registered businesses but typically lack in-house audit capacity. </a:t>
            </a:r>
            <a:r>
              <a:rPr lang="en-US" sz="1300" b="1" dirty="0">
                <a:solidFill>
                  <a:srgbClr val="E6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invoice screening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near-zero marginal AI cost lets even small businesses catch duplicate billing, GSTIN errors, and — critically — </a:t>
            </a:r>
            <a:r>
              <a:rPr lang="en-US" sz="1300" b="1" dirty="0">
                <a:solidFill>
                  <a:srgbClr val="E6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MSME payment deadlines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before they become real financial losses.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55080" y="4023360"/>
            <a:ext cx="4983480" cy="0"/>
          </a:xfrm>
          <a:prstGeom prst="line">
            <a:avLst/>
          </a:prstGeom>
          <a:noFill/>
          <a:ln w="9525">
            <a:solidFill>
              <a:srgbClr val="E6FFF7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4206240"/>
            <a:ext cx="4983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6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dual-mode Auditor / MSME interface acknowledges that the same risk intelligence needs to speak two different languages — technical auditor and non-technical business owner — to the same underlying finding.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Risk Scanner  ·  TetraTHON 2026  ·  Track C — FinTech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4572000" cy="4572000"/>
          </a:xfrm>
          <a:prstGeom prst="ellipse">
            <a:avLst/>
          </a:prstGeom>
          <a:solidFill>
            <a:srgbClr val="028090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prototype, ready to demo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0F2F52"/>
          </a:solidFill>
          <a:ln w="12700">
            <a:solidFill>
              <a:srgbClr val="1E4C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103120"/>
            <a:ext cx="118872" cy="1188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856232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prototype — FastAPI + SQLAlchemy backend, React/Vite frontend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15768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0F2F52"/>
          </a:solidFill>
          <a:ln w="12700">
            <a:solidFill>
              <a:srgbClr val="1E4C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3035808"/>
            <a:ext cx="118872" cy="1188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78892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and pitch deck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648456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0F2F52"/>
          </a:solidFill>
          <a:ln w="12700">
            <a:solidFill>
              <a:srgbClr val="1E4C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3968496"/>
            <a:ext cx="118872" cy="1188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721608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source code repository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581144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0F2F52"/>
          </a:solidFill>
          <a:ln w="12700">
            <a:solidFill>
              <a:srgbClr val="1E4C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4901184"/>
            <a:ext cx="118872" cy="1188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4654296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test dataset with engineered fraud/error scenarios — duplicates, invalid GSTIN, ledger mismatches, vendor anomalies, sequence gaps, tamper signals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577840"/>
            <a:ext cx="29260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5760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place the model could be wrong, there's a form — not an assumption.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Risk Scanner  ·  rule → cache → AI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1445</Words>
  <Application>Microsoft Office PowerPoint</Application>
  <PresentationFormat>Widescreen</PresentationFormat>
  <Paragraphs>192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ananyayadav747@outlook.com</cp:lastModifiedBy>
  <cp:revision>2</cp:revision>
  <dcterms:created xsi:type="dcterms:W3CDTF">2026-08-02T06:41:52Z</dcterms:created>
  <dcterms:modified xsi:type="dcterms:W3CDTF">2026-08-02T06:56:26Z</dcterms:modified>
</cp:coreProperties>
</file>